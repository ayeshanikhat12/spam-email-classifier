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78240" y="640080"/>
            <a:ext cx="2286000" cy="2286000"/>
          </a:xfrm>
          <a:prstGeom prst="roundRect">
            <a:avLst/>
          </a:prstGeom>
          <a:solidFill>
            <a:srgbClr val="1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4080" y="3017520"/>
            <a:ext cx="1554480" cy="1554480"/>
          </a:xfrm>
          <a:prstGeom prst="round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4114800"/>
            <a:ext cx="1097280" cy="1097280"/>
          </a:xfrm>
          <a:prstGeom prst="roundRect">
            <a:avLst/>
          </a:prstGeom>
          <a:solidFill>
            <a:srgbClr val="DB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7040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25BEAA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7498079" cy="1325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"/>
              </a:defRPr>
            </a:pPr>
            <a:r>
              <a:t>Spam Email</a:t>
            </a:r>
            <a:br/>
            <a:r>
              <a:t>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66751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0">
                <a:solidFill>
                  <a:srgbClr val="DCE5EE"/>
                </a:solidFill>
                <a:latin typeface="Aptos"/>
              </a:defRPr>
            </a:pPr>
            <a:r>
              <a:t>Classifying email messages as Spam or Ham using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67665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Python  •  TF-IDF  •  Naive Bayes  •  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80760"/>
            <a:ext cx="6217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AFBECF"/>
                </a:solidFill>
                <a:latin typeface="Aptos"/>
              </a:defRPr>
            </a:pPr>
            <a:r>
              <a:t>Project Overview and Technical Explanation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25880"/>
            <a:ext cx="2331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600200"/>
            <a:ext cx="178308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4800" b="1">
                <a:solidFill>
                  <a:srgbClr val="121B30"/>
                </a:solidFill>
                <a:latin typeface="Aptos"/>
              </a:defRPr>
            </a:pPr>
            <a:r>
              <a:t>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DB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45336"/>
            <a:ext cx="491947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Spam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47672"/>
            <a:ext cx="4919472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53144"/>
                </a:solidFill>
                <a:latin typeface="Aptos"/>
              </a:defRPr>
            </a:pPr>
            <a:r>
              <a:t>Unwanted or suspicious messages, such as misleading offers, fake prize claims, or unwanted promotions.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2A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45336"/>
            <a:ext cx="491947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Ham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47672"/>
            <a:ext cx="4919472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53144"/>
                </a:solidFill>
                <a:latin typeface="Aptos"/>
              </a:defRPr>
            </a:pPr>
            <a:r>
              <a:t>Normal or legitimate messages, such as meeting details and regular communication.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0698480" cy="9144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2300" b="1">
                <a:solidFill>
                  <a:srgbClr val="121B30"/>
                </a:solidFill>
                <a:latin typeface="Aptos"/>
              </a:defRPr>
            </a:pPr>
            <a:r>
              <a:t>Objective: Analyze the text of an email and predict whether it belongs to the Spam or Ham category.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99669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0">
                <a:solidFill>
                  <a:srgbClr val="5E6C80"/>
                </a:solidFill>
                <a:latin typeface="Aptos"/>
              </a:defRPr>
            </a:pPr>
            <a:r>
              <a:t>Example: “You won a free prize—claim now!” may be classified as Spam.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2. Dataset and Initial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73152" cy="146304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99616"/>
            <a:ext cx="299923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Total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01952"/>
            <a:ext cx="2999232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400" b="0">
                <a:solidFill>
                  <a:srgbClr val="253144"/>
                </a:solidFill>
                <a:latin typeface="Aptos"/>
              </a:defRPr>
            </a:pPr>
            <a:r>
              <a:t>5,171 email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73152" cy="1463040"/>
          </a:xfrm>
          <a:prstGeom prst="rect">
            <a:avLst/>
          </a:prstGeom>
          <a:solidFill>
            <a:srgbClr val="2A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499616"/>
            <a:ext cx="299923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Ham Emails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2999232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400" b="0">
                <a:solidFill>
                  <a:srgbClr val="253144"/>
                </a:solidFill>
                <a:latin typeface="Aptos"/>
              </a:defRPr>
            </a:pPr>
            <a:r>
              <a:t>3,672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73152" cy="1463040"/>
          </a:xfrm>
          <a:prstGeom prst="rect">
            <a:avLst/>
          </a:prstGeom>
          <a:solidFill>
            <a:srgbClr val="DB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499616"/>
            <a:ext cx="299923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Spam Emails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901952"/>
            <a:ext cx="2999232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400" b="0">
                <a:solidFill>
                  <a:srgbClr val="253144"/>
                </a:solidFill>
                <a:latin typeface="Aptos"/>
              </a:defRPr>
            </a:pPr>
            <a:r>
              <a:t>1,499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21B30"/>
                </a:solidFill>
                <a:latin typeface="Aptos"/>
              </a:defRPr>
            </a:pPr>
            <a:r>
              <a:t>What was checked using Pandas?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57600"/>
            <a:ext cx="5029200" cy="192024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53144"/>
                </a:solidFill>
                <a:latin typeface="Aptos"/>
              </a:defRPr>
            </a:pPr>
            <a:r>
              <a:t>Dataset size and column names</a:t>
            </a:r>
          </a:p>
          <a:p>
            <a:pPr>
              <a:spcAft>
                <a:spcPts val="800"/>
              </a:spcAft>
              <a:defRPr sz="1700">
                <a:solidFill>
                  <a:srgbClr val="253144"/>
                </a:solidFill>
                <a:latin typeface="Aptos"/>
              </a:defRPr>
            </a:pPr>
            <a:r>
              <a:t>Missing values and duplicate records</a:t>
            </a:r>
          </a:p>
          <a:p>
            <a:pPr>
              <a:spcAft>
                <a:spcPts val="800"/>
              </a:spcAft>
              <a:defRPr sz="1700">
                <a:solidFill>
                  <a:srgbClr val="253144"/>
                </a:solidFill>
                <a:latin typeface="Aptos"/>
              </a:defRPr>
            </a:pPr>
            <a:r>
              <a:t>Distribution of Spam and Ham labels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83280"/>
            <a:ext cx="4937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383280"/>
            <a:ext cx="73152" cy="155448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511296"/>
            <a:ext cx="45537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Initial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913632"/>
            <a:ext cx="4553712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53144"/>
                </a:solidFill>
                <a:latin typeface="Aptos"/>
              </a:defRPr>
            </a:pPr>
            <a:r>
              <a:t>No missing values or duplicate records were found during the initial exploration.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257800"/>
            <a:ext cx="4663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900" b="1">
                <a:solidFill>
                  <a:srgbClr val="121B30"/>
                </a:solidFill>
                <a:latin typeface="Aptos"/>
              </a:defRPr>
            </a:pPr>
            <a:r>
              <a:t>Label encoding: Ham = 0  |  Spam =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3. End-to-End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6304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25BEA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63040"/>
            <a:ext cx="1691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2029968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300" b="0">
                <a:solidFill>
                  <a:srgbClr val="253144"/>
                </a:solidFill>
                <a:latin typeface="Aptos"/>
              </a:defRPr>
            </a:pPr>
            <a:r>
              <a:t>Email text and 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37160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46304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25BEA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463040"/>
            <a:ext cx="1691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Exploration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920240"/>
            <a:ext cx="2029968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300" b="0">
                <a:solidFill>
                  <a:srgbClr val="253144"/>
                </a:solidFill>
                <a:latin typeface="Aptos"/>
              </a:defRPr>
            </a:pPr>
            <a:r>
              <a:t>Inspect data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37160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46304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25BEA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463040"/>
            <a:ext cx="1691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920240"/>
            <a:ext cx="2029968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300" b="0">
                <a:solidFill>
                  <a:srgbClr val="253144"/>
                </a:solidFill>
                <a:latin typeface="Aptos"/>
              </a:defRPr>
            </a:pPr>
            <a:r>
              <a:t>Convert text to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37160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146304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25BEA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463040"/>
            <a:ext cx="1691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Train/Test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1920240"/>
            <a:ext cx="2029968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300" b="0">
                <a:solidFill>
                  <a:srgbClr val="253144"/>
                </a:solidFill>
                <a:latin typeface="Aptos"/>
              </a:defRPr>
            </a:pPr>
            <a:r>
              <a:t>80% training, 20% 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5760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749039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25BEA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749039"/>
            <a:ext cx="1691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Naive Bayes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206240"/>
            <a:ext cx="2029968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300" b="0">
                <a:solidFill>
                  <a:srgbClr val="253144"/>
                </a:solidFill>
                <a:latin typeface="Aptos"/>
              </a:defRPr>
            </a:pPr>
            <a:r>
              <a:t>Train classifier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365760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3749039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25BEA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749039"/>
            <a:ext cx="1691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4206240"/>
            <a:ext cx="2029968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300" b="0">
                <a:solidFill>
                  <a:srgbClr val="253144"/>
                </a:solidFill>
                <a:latin typeface="Aptos"/>
              </a:defRPr>
            </a:pPr>
            <a:r>
              <a:t>Accuracy and confusion matrix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65760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749039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25BEA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749039"/>
            <a:ext cx="1691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Save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206240"/>
            <a:ext cx="2029968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300" b="0">
                <a:solidFill>
                  <a:srgbClr val="253144"/>
                </a:solidFill>
                <a:latin typeface="Aptos"/>
              </a:defRPr>
            </a:pPr>
            <a:r>
              <a:t>Model and vectorizer files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365760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3749039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25BEA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749039"/>
            <a:ext cx="1691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Prediction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4206240"/>
            <a:ext cx="2029968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300" b="0">
                <a:solidFill>
                  <a:srgbClr val="253144"/>
                </a:solidFill>
                <a:latin typeface="Aptos"/>
              </a:defRPr>
            </a:pPr>
            <a:r>
              <a:t>Classify new email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121B30"/>
                </a:solidFill>
                <a:latin typeface="Aptos"/>
              </a:defRPr>
            </a:pPr>
            <a:r>
              <a:t>Dataset → Text Processing → Training → Testing →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4. Text Processing with TF-IDF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F2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45537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4553712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53144"/>
                </a:solidFill>
                <a:latin typeface="Aptos"/>
              </a:defRPr>
            </a:pPr>
            <a:r>
              <a:t>Machine learning models need numerical input. Raw email text must be converted into numerical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73152" cy="182880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499616"/>
            <a:ext cx="45537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The Solution: TF-IDF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901952"/>
            <a:ext cx="4553712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53144"/>
                </a:solidFill>
                <a:latin typeface="Aptos"/>
              </a:defRPr>
            </a:pPr>
            <a:r>
              <a:t>TF-IDF represents words numerically according to their importance in a document and across the dataset.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400" b="1">
                <a:solidFill>
                  <a:srgbClr val="121B30"/>
                </a:solidFill>
                <a:latin typeface="Aptos"/>
              </a:defRPr>
            </a:pPr>
            <a:r>
              <a:t>Example email: “Win a free prize now”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33272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0">
                <a:solidFill>
                  <a:srgbClr val="253144"/>
                </a:solidFill>
                <a:latin typeface="Aptos"/>
              </a:defRPr>
            </a:pPr>
            <a:r>
              <a:t>The vectorizer converts the text into numerical features. The project uses up to 5,000 features and removes common English stop words.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5E6C80"/>
                </a:solidFill>
                <a:latin typeface="Aptos"/>
              </a:defRPr>
            </a:pPr>
            <a:r>
              <a:t>TF-IDF = Term Frequency–Inverse Document Frequency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5. Model Training and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55448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47365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80% Training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4736592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253144"/>
                </a:solidFill>
                <a:latin typeface="Aptos"/>
              </a:defRPr>
            </a:pPr>
            <a:r>
              <a:t>4,136 records used to learn patterns from labeled emails.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73152" cy="1554480"/>
          </a:xfrm>
          <a:prstGeom prst="rect">
            <a:avLst/>
          </a:prstGeom>
          <a:solidFill>
            <a:srgbClr val="F2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499616"/>
            <a:ext cx="47365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20% Testing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901952"/>
            <a:ext cx="4736592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253144"/>
                </a:solidFill>
                <a:latin typeface="Aptos"/>
              </a:defRPr>
            </a:pPr>
            <a:r>
              <a:t>1,035 records used to evaluate performance on unseen examples.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10515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400" b="1">
                <a:solidFill>
                  <a:srgbClr val="121B30"/>
                </a:solidFill>
                <a:latin typeface="Aptos"/>
              </a:defRPr>
            </a:pPr>
            <a:r>
              <a:t>Algorithm: Multinomial Naive Bayes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58400" cy="12801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900" b="0">
                <a:solidFill>
                  <a:srgbClr val="253144"/>
                </a:solidFill>
                <a:latin typeface="Aptos"/>
              </a:defRPr>
            </a:pPr>
            <a:r>
              <a:t>Multinomial Naive Bayes is a probability-based classification algorithm commonly used for text classification. It learns associations between text features and labels, then predicts whether a new message is Spam or Ham.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0">
                <a:solidFill>
                  <a:srgbClr val="5E6C80"/>
                </a:solidFill>
                <a:latin typeface="Aptos"/>
              </a:defRPr>
            </a:pPr>
            <a:r>
              <a:t>The model can make mistakes; its predictions are not guaranteed to be correct.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6. Model Evaluation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41732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29077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290779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0">
                <a:solidFill>
                  <a:srgbClr val="253144"/>
                </a:solidFill>
                <a:latin typeface="Aptos"/>
              </a:defRPr>
            </a:pPr>
            <a:r>
              <a:t>95.27%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7160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71600"/>
            <a:ext cx="73152" cy="1417320"/>
          </a:xfrm>
          <a:prstGeom prst="rect">
            <a:avLst/>
          </a:prstGeom>
          <a:solidFill>
            <a:srgbClr val="F2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99616"/>
            <a:ext cx="29077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Test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901952"/>
            <a:ext cx="290779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0">
                <a:solidFill>
                  <a:srgbClr val="253144"/>
                </a:solidFill>
                <a:latin typeface="Aptos"/>
              </a:defRPr>
            </a:pPr>
            <a:r>
              <a:t>1,035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1417320"/>
          </a:xfrm>
          <a:prstGeom prst="rect">
            <a:avLst/>
          </a:prstGeom>
          <a:solidFill>
            <a:srgbClr val="2A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499616"/>
            <a:ext cx="29077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Correct Predictions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901952"/>
            <a:ext cx="290779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500" b="0">
                <a:solidFill>
                  <a:srgbClr val="253144"/>
                </a:solidFill>
                <a:latin typeface="Aptos"/>
              </a:defRPr>
            </a:pPr>
            <a:r>
              <a:t>986 / 1,035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4754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100" b="1">
                <a:solidFill>
                  <a:srgbClr val="121B30"/>
                </a:solidFill>
                <a:latin typeface="Aptos"/>
              </a:defRPr>
            </a:pPr>
            <a:r>
              <a:t>Confusion Matrix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68680" y="3657600"/>
          <a:ext cx="49377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55448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 / Predicted</a:t>
                      </a:r>
                    </a:p>
                  </a:txBody>
                  <a:tcPr marL="54864" marR="54864" marT="27432" marB="27432"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Ham</a:t>
                      </a:r>
                    </a:p>
                  </a:txBody>
                  <a:tcPr marL="54864" marR="54864" marT="27432" marB="27432"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Spam</a:t>
                      </a:r>
                    </a:p>
                  </a:txBody>
                  <a:tcPr marL="54864" marR="54864" marT="27432" marB="27432">
                    <a:solidFill>
                      <a:srgbClr val="121B3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Ham</a:t>
                      </a:r>
                    </a:p>
                  </a:txBody>
                  <a:tcPr marL="54864" marR="54864" marT="27432" marB="27432"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53144"/>
                          </a:solidFill>
                          <a:latin typeface="Aptos"/>
                        </a:defRPr>
                      </a:pPr>
                      <a:r>
                        <a:t>705 correct</a:t>
                      </a:r>
                    </a:p>
                  </a:txBody>
                  <a:tcPr marL="54864" marR="54864" marT="27432" marB="27432">
                    <a:solidFill>
                      <a:srgbClr val="DCF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53144"/>
                          </a:solidFill>
                          <a:latin typeface="Aptos"/>
                        </a:defRPr>
                      </a:pPr>
                      <a:r>
                        <a:t>30 incorrect</a:t>
                      </a:r>
                    </a:p>
                  </a:txBody>
                  <a:tcPr marL="54864" marR="54864" marT="27432" marB="27432">
                    <a:solidFill>
                      <a:srgbClr val="FFE9E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Spam</a:t>
                      </a:r>
                    </a:p>
                  </a:txBody>
                  <a:tcPr marL="54864" marR="54864" marT="27432" marB="27432">
                    <a:solidFill>
                      <a:srgbClr val="12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53144"/>
                          </a:solidFill>
                          <a:latin typeface="Aptos"/>
                        </a:defRPr>
                      </a:pPr>
                      <a:r>
                        <a:t>19 incorrect</a:t>
                      </a:r>
                    </a:p>
                  </a:txBody>
                  <a:tcPr marL="54864" marR="54864" marT="27432" marB="27432">
                    <a:solidFill>
                      <a:srgbClr val="FF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53144"/>
                          </a:solidFill>
                          <a:latin typeface="Aptos"/>
                        </a:defRPr>
                      </a:pPr>
                      <a:r>
                        <a:t>281 correct</a:t>
                      </a:r>
                    </a:p>
                  </a:txBody>
                  <a:tcPr marL="54864" marR="54864" marT="27432" marB="27432">
                    <a:solidFill>
                      <a:srgbClr val="DCF5EB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217920" y="3566160"/>
            <a:ext cx="5029200" cy="1508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53144"/>
                </a:solidFill>
                <a:latin typeface="Aptos"/>
              </a:defRPr>
            </a:pPr>
            <a:r>
              <a:t>• 705 Ham emails correctly classified</a:t>
            </a:r>
            <a:br/>
            <a:r>
              <a:t>• 281 Spam emails correctly classified</a:t>
            </a:r>
            <a:br/>
            <a:r>
              <a:t>• 30 Ham emails incorrectly predicted as Spam</a:t>
            </a:r>
            <a:br/>
            <a:r>
              <a:t>• 19 Spam emails incorrectly predicted as Ham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303520"/>
            <a:ext cx="48463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5E6C80"/>
                </a:solidFill>
                <a:latin typeface="Aptos"/>
              </a:defRPr>
            </a:pPr>
            <a:r>
              <a:t>Accuracy reflects this test dataset; real-world performance may differ.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7. Saving the Model and Making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41732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46451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spam_model.pkl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464515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53144"/>
                </a:solidFill>
                <a:latin typeface="Aptos"/>
              </a:defRPr>
            </a:pPr>
            <a:r>
              <a:t>Stores the trained classification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73152" cy="1417320"/>
          </a:xfrm>
          <a:prstGeom prst="rect">
            <a:avLst/>
          </a:prstGeom>
          <a:solidFill>
            <a:srgbClr val="F2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499616"/>
            <a:ext cx="46451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tfidf_vectorizer.pkl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901952"/>
            <a:ext cx="4645152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53144"/>
                </a:solidFill>
                <a:latin typeface="Aptos"/>
              </a:defRPr>
            </a:pPr>
            <a:r>
              <a:t>Stores the fitted text vectorizer used to transform email 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5468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100" b="1">
                <a:solidFill>
                  <a:srgbClr val="121B30"/>
                </a:solidFill>
                <a:latin typeface="Aptos"/>
              </a:defRPr>
            </a:pPr>
            <a:r>
              <a:t>Prediction 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73152" cy="132588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877055"/>
            <a:ext cx="2039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21B30"/>
                </a:solidFill>
                <a:latin typeface="Aptos"/>
              </a:defRPr>
            </a:pPr>
            <a:r>
              <a:t>Email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79392"/>
            <a:ext cx="2039112" cy="7040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User enters a 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4160520"/>
            <a:ext cx="365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200" b="1">
                <a:solidFill>
                  <a:srgbClr val="25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749039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3749039"/>
            <a:ext cx="73152" cy="1325880"/>
          </a:xfrm>
          <a:prstGeom prst="rect">
            <a:avLst/>
          </a:prstGeom>
          <a:solidFill>
            <a:srgbClr val="F2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8" y="3877055"/>
            <a:ext cx="2039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21B30"/>
                </a:solidFill>
                <a:latin typeface="Aptos"/>
              </a:defRPr>
            </a:pPr>
            <a:r>
              <a:t>Vectorizer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4279392"/>
            <a:ext cx="2039112" cy="7040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Text → numerical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7608" y="4160520"/>
            <a:ext cx="365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200" b="1">
                <a:solidFill>
                  <a:srgbClr val="25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749039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3749039"/>
            <a:ext cx="73152" cy="132588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877055"/>
            <a:ext cx="2039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21B30"/>
                </a:solidFill>
                <a:latin typeface="Aptos"/>
              </a:defRPr>
            </a:pPr>
            <a:r>
              <a:t>Saved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4279392"/>
            <a:ext cx="2039112" cy="7040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Analyzes the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7" y="4160520"/>
            <a:ext cx="365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200" b="1">
                <a:solidFill>
                  <a:srgbClr val="25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3749039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80" y="3749039"/>
            <a:ext cx="73152" cy="1325880"/>
          </a:xfrm>
          <a:prstGeom prst="rect">
            <a:avLst/>
          </a:prstGeom>
          <a:solidFill>
            <a:srgbClr val="2A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3877055"/>
            <a:ext cx="2039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21B30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4279392"/>
            <a:ext cx="2039112" cy="7040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253144"/>
                </a:solidFill>
                <a:latin typeface="Aptos"/>
              </a:defRPr>
            </a:pPr>
            <a:r>
              <a:t>Spam or Ham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0">
                <a:solidFill>
                  <a:srgbClr val="5E6C80"/>
                </a:solidFill>
                <a:latin typeface="Aptos"/>
              </a:defRPr>
            </a:pPr>
            <a:r>
              <a:t>The saved model can be reused without retraining for every prediction.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8. Streamlit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29535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1.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2953512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53144"/>
                </a:solidFill>
                <a:latin typeface="Aptos"/>
              </a:defRPr>
            </a:pPr>
            <a:r>
              <a:t>The user enters an email message in the text 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71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71600"/>
            <a:ext cx="73152" cy="1828800"/>
          </a:xfrm>
          <a:prstGeom prst="rect">
            <a:avLst/>
          </a:prstGeom>
          <a:solidFill>
            <a:srgbClr val="F2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99616"/>
            <a:ext cx="29535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2.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901952"/>
            <a:ext cx="2953512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53144"/>
                </a:solidFill>
                <a:latin typeface="Aptos"/>
              </a:defRPr>
            </a:pPr>
            <a:r>
              <a:t>The app uses the saved TF-IDF vectorizer and trained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1828800"/>
          </a:xfrm>
          <a:prstGeom prst="rect">
            <a:avLst/>
          </a:prstGeom>
          <a:solidFill>
            <a:srgbClr val="2A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499616"/>
            <a:ext cx="29535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21B30"/>
                </a:solidFill>
                <a:latin typeface="Aptos"/>
              </a:defRPr>
            </a:pPr>
            <a:r>
              <a:t>3.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901952"/>
            <a:ext cx="2953512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53144"/>
                </a:solidFill>
                <a:latin typeface="Aptos"/>
              </a:defRPr>
            </a:pPr>
            <a:r>
              <a:t>The result is displayed as HAM or SPAM.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000" b="1">
                <a:solidFill>
                  <a:srgbClr val="121B30"/>
                </a:solidFill>
                <a:latin typeface="Aptos"/>
              </a:defRPr>
            </a:pPr>
            <a:r>
              <a:t>Command to Run the Application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297680"/>
            <a:ext cx="9601200" cy="73152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443984"/>
            <a:ext cx="932688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python -m streamlit run app.py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0">
                <a:solidFill>
                  <a:srgbClr val="5E6C80"/>
                </a:solidFill>
                <a:latin typeface="Aptos"/>
              </a:defRPr>
            </a:pPr>
            <a:r>
              <a:t>The interface uses a red background for SPAM and a green background for HAM.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9. Main Project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73152" cy="91440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408176"/>
            <a:ext cx="48737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data_exploration.py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10512"/>
            <a:ext cx="4873752" cy="2926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Explore the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280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280160"/>
            <a:ext cx="73152" cy="914400"/>
          </a:xfrm>
          <a:prstGeom prst="rect">
            <a:avLst/>
          </a:prstGeom>
          <a:solidFill>
            <a:srgbClr val="F2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408176"/>
            <a:ext cx="48737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train_model.py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1810512"/>
            <a:ext cx="4873752" cy="2926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Train and evaluate the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23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423160"/>
            <a:ext cx="73152" cy="91440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551176"/>
            <a:ext cx="48737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predict.py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953512"/>
            <a:ext cx="4873752" cy="2926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Make predictions in the terminal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423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2423160"/>
            <a:ext cx="73152" cy="914400"/>
          </a:xfrm>
          <a:prstGeom prst="rect">
            <a:avLst/>
          </a:prstGeom>
          <a:solidFill>
            <a:srgbClr val="F2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2551176"/>
            <a:ext cx="48737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app.py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2953512"/>
            <a:ext cx="4873752" cy="2926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Run the Streamlit interface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566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566160"/>
            <a:ext cx="73152" cy="91440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3694176"/>
            <a:ext cx="48737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models/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096511"/>
            <a:ext cx="4873752" cy="2926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Store the trained model and vectorizer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566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3566160"/>
            <a:ext cx="73152" cy="914400"/>
          </a:xfrm>
          <a:prstGeom prst="rect">
            <a:avLst/>
          </a:prstGeom>
          <a:solidFill>
            <a:srgbClr val="F2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3694176"/>
            <a:ext cx="48737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requirements.txt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4096511"/>
            <a:ext cx="4873752" cy="2926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List required Python libraries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709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709160"/>
            <a:ext cx="73152" cy="91440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4837176"/>
            <a:ext cx="48737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README.md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5239512"/>
            <a:ext cx="4873752" cy="2926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Document the project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7091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4709160"/>
            <a:ext cx="73152" cy="914400"/>
          </a:xfrm>
          <a:prstGeom prst="rect">
            <a:avLst/>
          </a:prstGeom>
          <a:solidFill>
            <a:srgbClr val="F2B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4837176"/>
            <a:ext cx="48737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21B30"/>
                </a:solidFill>
                <a:latin typeface="Aptos"/>
              </a:defRPr>
            </a:pPr>
            <a:r>
              <a:t>.gitignore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7688" y="5239512"/>
            <a:ext cx="4873752" cy="2926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144"/>
                </a:solidFill>
                <a:latin typeface="Aptos"/>
              </a:defRPr>
            </a:pPr>
            <a:r>
              <a:t>Exclude unnecessary files from Git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10. Limitations and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3383280"/>
          </a:xfrm>
          <a:prstGeom prst="rect">
            <a:avLst/>
          </a:prstGeom>
          <a:solidFill>
            <a:srgbClr val="DB4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47365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21B30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4736592" cy="2761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53144"/>
                </a:solidFill>
                <a:latin typeface="Aptos"/>
              </a:defRPr>
            </a:pPr>
            <a:r>
              <a:t>• Some emails may be misclassified.</a:t>
            </a:r>
            <a:br/>
            <a:br/>
            <a:r>
              <a:t>• Results depend on dataset quality and representativeness.</a:t>
            </a:r>
            <a:br/>
            <a:br/>
            <a:r>
              <a:t>• The model analyzes text; it does not independently verify links, attachments, or sender identity.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73152" cy="3383280"/>
          </a:xfrm>
          <a:prstGeom prst="rect">
            <a:avLst/>
          </a:prstGeom>
          <a:solidFill>
            <a:srgbClr val="2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499616"/>
            <a:ext cx="47365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21B30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901952"/>
            <a:ext cx="4736592" cy="2761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53144"/>
                </a:solidFill>
                <a:latin typeface="Aptos"/>
              </a:defRPr>
            </a:pPr>
            <a:r>
              <a:t>• Test on more diverse email samples.</a:t>
            </a:r>
            <a:br/>
            <a:br/>
            <a:r>
              <a:t>• Compare additional classification algorithms.</a:t>
            </a:r>
            <a:br/>
            <a:br/>
            <a:r>
              <a:t>• Improve text preprocessing and features.</a:t>
            </a:r>
            <a:br/>
            <a:br/>
            <a:r>
              <a:t>• Explore online deployment.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1014984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121B30"/>
                </a:solidFill>
                <a:latin typeface="Aptos"/>
              </a:defRPr>
            </a:pPr>
            <a:r>
              <a:t>The project provides practical experience with data exploration, text processing, model training, evaluation, and application development.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11. 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94944"/>
            <a:ext cx="18288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5BEAA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E6C80"/>
                </a:solidFill>
                <a:latin typeface="Aptos"/>
              </a:defRPr>
            </a:pPr>
            <a:r>
              <a:t>SPAM EMAIL CLASSIFIER  • 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E6C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1">
                <a:solidFill>
                  <a:srgbClr val="121B30"/>
                </a:solidFill>
                <a:latin typeface="Aptos"/>
              </a:defRPr>
            </a:pPr>
            <a:r>
              <a:t>A concise explanation for a presentation or interview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66960" cy="2011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0">
                <a:solidFill>
                  <a:srgbClr val="253144"/>
                </a:solidFill>
                <a:latin typeface="Aptos"/>
              </a:defRPr>
            </a:pPr>
            <a:r>
              <a:t>“I developed a Spam Email Classifier to categorize email messages as Spam or Ham. I explored a dataset of 5,171 labeled email records using Pandas. I used TF-IDF to convert text into numerical features, then trained a Multinomial Naive Bayes model using 80% of the data and tested it on the remaining 20%. The model achieved approximately 95.27% accuracy on the test dataset. I saved the trained model and vectorizer, created a terminal-based prediction program, and developed a Streamlit web application where users can enter an email and view its predicted category.”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25BEAA"/>
                </a:solidFill>
                <a:latin typeface="Aptos"/>
              </a:defRPr>
            </a:pPr>
            <a:r>
              <a:t>Remember the flow: Dataset → TF-IDF → Train/Test Split → Naive Bayes → Evaluation → Saved Model → Streamlit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0">
                <a:solidFill>
                  <a:srgbClr val="5E6C80"/>
                </a:solidFill>
                <a:latin typeface="Aptos"/>
              </a:defRPr>
            </a:pPr>
            <a:r>
              <a:t>Note: GitHub upload has not yet been completed.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